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1680D-F538-4E94-AA1B-72CBF153806B}" v="2" dt="2026-03-14T14:37:37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ël OXYBEL" userId="JC5AtHzCu1rSbYnhwzjwkyzvwv6vbHQO8DVjfLYA6XM=" providerId="None" clId="Web-{2C11680D-F538-4E94-AA1B-72CBF153806B}"/>
    <pc:docChg chg="modSld">
      <pc:chgData name="Joël OXYBEL" userId="JC5AtHzCu1rSbYnhwzjwkyzvwv6vbHQO8DVjfLYA6XM=" providerId="None" clId="Web-{2C11680D-F538-4E94-AA1B-72CBF153806B}" dt="2026-03-14T14:37:37.577" v="1"/>
      <pc:docMkLst>
        <pc:docMk/>
      </pc:docMkLst>
      <pc:sldChg chg="delSp modSp">
        <pc:chgData name="Joël OXYBEL" userId="JC5AtHzCu1rSbYnhwzjwkyzvwv6vbHQO8DVjfLYA6XM=" providerId="None" clId="Web-{2C11680D-F538-4E94-AA1B-72CBF153806B}" dt="2026-03-14T14:37:37.577" v="1"/>
        <pc:sldMkLst>
          <pc:docMk/>
          <pc:sldMk cId="0" sldId="256"/>
        </pc:sldMkLst>
        <pc:spChg chg="del mod">
          <ac:chgData name="Joël OXYBEL" userId="JC5AtHzCu1rSbYnhwzjwkyzvwv6vbHQO8DVjfLYA6XM=" providerId="None" clId="Web-{2C11680D-F538-4E94-AA1B-72CBF153806B}" dt="2026-03-14T14:37:37.577" v="1"/>
          <ac:spMkLst>
            <pc:docMk/>
            <pc:sldMk cId="0" sldId="256"/>
            <ac:spMk id="7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total ($M)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AN1</c:v>
                </c:pt>
                <c:pt idx="1">
                  <c:v>AN2</c:v>
                </c:pt>
                <c:pt idx="2">
                  <c:v>AN3</c:v>
                </c:pt>
                <c:pt idx="3">
                  <c:v>AN4</c:v>
                </c:pt>
                <c:pt idx="4">
                  <c:v>AN5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9.6999999999999993</c:v>
                </c:pt>
                <c:pt idx="2">
                  <c:v>12.3</c:v>
                </c:pt>
                <c:pt idx="3">
                  <c:v>14</c:v>
                </c:pt>
                <c:pt idx="4">
                  <c:v>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04-48D6-9958-B7D73C79CA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 ($M)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AN1</c:v>
                </c:pt>
                <c:pt idx="1">
                  <c:v>AN2</c:v>
                </c:pt>
                <c:pt idx="2">
                  <c:v>AN3</c:v>
                </c:pt>
                <c:pt idx="3">
                  <c:v>AN4</c:v>
                </c:pt>
                <c:pt idx="4">
                  <c:v>AN5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</c:v>
                </c:pt>
                <c:pt idx="1">
                  <c:v>3.3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04-48D6-9958-B7D73C79CA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AN1</c:v>
                </c:pt>
                <c:pt idx="1">
                  <c:v>AN2</c:v>
                </c:pt>
                <c:pt idx="2">
                  <c:v>AN3</c:v>
                </c:pt>
                <c:pt idx="3">
                  <c:v>AN4</c:v>
                </c:pt>
                <c:pt idx="4">
                  <c:v>AN5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6.4</c:v>
                </c:pt>
                <c:pt idx="2">
                  <c:v>8.3000000000000007</c:v>
                </c:pt>
                <c:pt idx="3">
                  <c:v>10</c:v>
                </c:pt>
                <c:pt idx="4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04-48D6-9958-B7D73C79CA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Résultat Net ($M)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AN1</c:v>
                </c:pt>
                <c:pt idx="1">
                  <c:v>AN2</c:v>
                </c:pt>
                <c:pt idx="2">
                  <c:v>AN3</c:v>
                </c:pt>
                <c:pt idx="3">
                  <c:v>AN4</c:v>
                </c:pt>
                <c:pt idx="4">
                  <c:v>AN5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4.5</c:v>
                </c:pt>
                <c:pt idx="2">
                  <c:v>5.8</c:v>
                </c:pt>
                <c:pt idx="3">
                  <c:v>7</c:v>
                </c:pt>
                <c:pt idx="4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04-48D6-9958-B7D73C79CA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1E4D2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28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28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9F50E-06B9-43C8-8C38-F7BCEA67DA9A}" type="datetimeFigureOut">
              <a:t>14/03/2026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D9801-207F-4F5C-8D03-A1FDBDCC9E8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74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18872"/>
            <a:ext cx="1170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PROJECTIONS FINANCIÈRES 5 ANS — BUDGET v1.5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1170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CA total (core + complémentaires) — OPEX — EBITDA — Résultat Net post-tax 30% — Source : TakaPlast_Budget_v1.5.xlsx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1005840"/>
          <a:ext cx="59436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987552"/>
            <a:ext cx="5577840" cy="402336"/>
          </a:xfrm>
          <a:prstGeom prst="rect">
            <a:avLst/>
          </a:prstGeom>
          <a:solidFill>
            <a:srgbClr val="0F3D20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75013" y="987552"/>
            <a:ext cx="819302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9875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36408" y="98755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AN1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55710" y="98755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AN2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75013" y="98755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818"/>
                </a:solidFill>
              </a:rPr>
              <a:t>AN3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294315" y="98755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AN4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113618" y="98755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AN5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55080" y="1389888"/>
            <a:ext cx="5577840" cy="402336"/>
          </a:xfrm>
          <a:prstGeom prst="rect">
            <a:avLst/>
          </a:prstGeom>
          <a:solidFill>
            <a:srgbClr val="0D2818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475013" y="1389888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38988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CA total ($M)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36408" y="138988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$1.8M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55710" y="138988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$9.7M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475013" y="138988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$12.3M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294315" y="138988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$14.0M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113618" y="138988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$15.3M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55080" y="1792224"/>
            <a:ext cx="5577840" cy="402336"/>
          </a:xfrm>
          <a:prstGeom prst="rect">
            <a:avLst/>
          </a:prstGeom>
          <a:solidFill>
            <a:srgbClr val="102B1A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75013" y="1792224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8232" y="1792224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OPEX ($M)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836408" y="179222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$1.8M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55710" y="179222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$3.3M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475013" y="179222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$4.0M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294315" y="179222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$4.0M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113618" y="179222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$4.0M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355080" y="2194560"/>
            <a:ext cx="5577840" cy="402336"/>
          </a:xfrm>
          <a:prstGeom prst="rect">
            <a:avLst/>
          </a:prstGeom>
          <a:solidFill>
            <a:srgbClr val="0D2818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75013" y="2194560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28232" y="21945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EBITDA ($M)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36408" y="219456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~$0M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655710" y="219456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$6.4M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475013" y="219456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$8.3M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294315" y="219456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$10.0M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113618" y="219456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$11.3M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355080" y="2596896"/>
            <a:ext cx="5577840" cy="402336"/>
          </a:xfrm>
          <a:prstGeom prst="rect">
            <a:avLst/>
          </a:prstGeom>
          <a:solidFill>
            <a:srgbClr val="102B1A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475013" y="2596896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28232" y="259689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Marge EBITDA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836408" y="2596896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~0%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655710" y="2596896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66%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475013" y="2596896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68%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0294315" y="2596896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71%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1113618" y="2596896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74%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55080" y="2999232"/>
            <a:ext cx="5577840" cy="402336"/>
          </a:xfrm>
          <a:prstGeom prst="rect">
            <a:avLst/>
          </a:prstGeom>
          <a:solidFill>
            <a:srgbClr val="0D2818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475013" y="2999232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28232" y="299923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Résultat Net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836408" y="299923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~$0M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655710" y="299923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$4.5M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9475013" y="299923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$5.8M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10294315" y="299923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$7.0M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1113618" y="2999232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$7.9M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355080" y="3401568"/>
            <a:ext cx="5577840" cy="402336"/>
          </a:xfrm>
          <a:prstGeom prst="rect">
            <a:avLst/>
          </a:prstGeom>
          <a:solidFill>
            <a:srgbClr val="102B1A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475013" y="3401568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428232" y="340156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CAPEX déployé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7836408" y="340156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$8.44M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8655710" y="340156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$8.44M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75013" y="340156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$8.44M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0294315" y="340156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$8.44M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11113618" y="3401568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$8.44M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355080" y="3803904"/>
            <a:ext cx="5577840" cy="402336"/>
          </a:xfrm>
          <a:prstGeom prst="rect">
            <a:avLst/>
          </a:prstGeom>
          <a:solidFill>
            <a:srgbClr val="0D2818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475013" y="3803904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428232" y="3803904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Employés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7836408" y="380390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655710" y="380390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58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9475013" y="380390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114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10294315" y="380390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120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11113618" y="3803904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130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6355080" y="4206240"/>
            <a:ext cx="5577840" cy="402336"/>
          </a:xfrm>
          <a:prstGeom prst="rect">
            <a:avLst/>
          </a:prstGeom>
          <a:solidFill>
            <a:srgbClr val="102B1A"/>
          </a:solidFill>
          <a:ln w="6350">
            <a:solidFill>
              <a:srgbClr val="1E4D2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475013" y="4206240"/>
            <a:ext cx="819302" cy="402336"/>
          </a:xfrm>
          <a:prstGeom prst="rect">
            <a:avLst/>
          </a:prstGeom>
          <a:solidFill>
            <a:srgbClr val="0F3D2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428232" y="420624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Dividendes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7836408" y="420624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$0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8655710" y="420624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$894K</a:t>
            </a:r>
            <a:endParaRPr lang="en-US" sz="1000" dirty="0"/>
          </a:p>
        </p:txBody>
      </p:sp>
      <p:sp>
        <p:nvSpPr>
          <p:cNvPr id="75" name="Text 72"/>
          <p:cNvSpPr/>
          <p:nvPr/>
        </p:nvSpPr>
        <p:spPr>
          <a:xfrm>
            <a:off x="9475013" y="420624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</a:rPr>
              <a:t>$1.17M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10294315" y="420624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$1.40M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11113618" y="4206240"/>
            <a:ext cx="8193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$1.58M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0" y="5394960"/>
            <a:ext cx="3003804" cy="1325880"/>
          </a:xfrm>
          <a:prstGeom prst="rect">
            <a:avLst/>
          </a:prstGeom>
          <a:solidFill>
            <a:srgbClr val="1A3C2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1440" y="5468112"/>
            <a:ext cx="2820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$8.44M</a:t>
            </a:r>
            <a:endParaRPr lang="en-US" sz="3200" dirty="0"/>
          </a:p>
        </p:txBody>
      </p:sp>
      <p:sp>
        <p:nvSpPr>
          <p:cNvPr id="81" name="Text 78"/>
          <p:cNvSpPr/>
          <p:nvPr/>
        </p:nvSpPr>
        <p:spPr>
          <a:xfrm>
            <a:off x="91440" y="6217920"/>
            <a:ext cx="2820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CAPEX+WC TOTAL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3040380" y="5394960"/>
            <a:ext cx="3003804" cy="1325880"/>
          </a:xfrm>
          <a:prstGeom prst="rect">
            <a:avLst/>
          </a:prstGeom>
          <a:solidFill>
            <a:srgbClr val="1A3C2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131820" y="5468112"/>
            <a:ext cx="2820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$36.0M</a:t>
            </a:r>
            <a:endParaRPr lang="en-US" sz="3200" dirty="0"/>
          </a:p>
        </p:txBody>
      </p:sp>
      <p:sp>
        <p:nvSpPr>
          <p:cNvPr id="84" name="Text 81"/>
          <p:cNvSpPr/>
          <p:nvPr/>
        </p:nvSpPr>
        <p:spPr>
          <a:xfrm>
            <a:off x="3131820" y="6217920"/>
            <a:ext cx="2820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EBITDA CUMULÉ 5 ANS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6080760" y="5394960"/>
            <a:ext cx="3003804" cy="1325880"/>
          </a:xfrm>
          <a:prstGeom prst="rect">
            <a:avLst/>
          </a:prstGeom>
          <a:solidFill>
            <a:srgbClr val="1A3C2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172200" y="5468112"/>
            <a:ext cx="2820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&gt;400%</a:t>
            </a:r>
            <a:endParaRPr lang="en-US" sz="3200" dirty="0"/>
          </a:p>
        </p:txBody>
      </p:sp>
      <p:sp>
        <p:nvSpPr>
          <p:cNvPr id="87" name="Text 84"/>
          <p:cNvSpPr/>
          <p:nvPr/>
        </p:nvSpPr>
        <p:spPr>
          <a:xfrm>
            <a:off x="6172200" y="6217920"/>
            <a:ext cx="2820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ROI 5 ANS NET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9121140" y="5394960"/>
            <a:ext cx="3003804" cy="1325880"/>
          </a:xfrm>
          <a:prstGeom prst="rect">
            <a:avLst/>
          </a:prstGeom>
          <a:solidFill>
            <a:srgbClr val="1A3C2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212580" y="5468112"/>
            <a:ext cx="2820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18-22 mois</a:t>
            </a:r>
            <a:endParaRPr lang="en-US" sz="3200" dirty="0"/>
          </a:p>
        </p:txBody>
      </p:sp>
      <p:sp>
        <p:nvSpPr>
          <p:cNvPr id="90" name="Text 87"/>
          <p:cNvSpPr/>
          <p:nvPr/>
        </p:nvSpPr>
        <p:spPr>
          <a:xfrm>
            <a:off x="9212580" y="6217920"/>
            <a:ext cx="2820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PAYBACK ESTIMÉ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274320" y="66751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TakaPlast — Confidentiel — Mars 2026</a:t>
            </a:r>
            <a:endParaRPr lang="en-US" sz="750" dirty="0"/>
          </a:p>
        </p:txBody>
      </p:sp>
      <p:sp>
        <p:nvSpPr>
          <p:cNvPr id="92" name="Text 89"/>
          <p:cNvSpPr/>
          <p:nvPr/>
        </p:nvSpPr>
        <p:spPr>
          <a:xfrm>
            <a:off x="8686800" y="66751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www.takaplast.com/rdc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</cp:revision>
  <dcterms:created xsi:type="dcterms:W3CDTF">2026-03-14T14:20:49Z</dcterms:created>
  <dcterms:modified xsi:type="dcterms:W3CDTF">2026-03-14T14:37:45Z</dcterms:modified>
</cp:coreProperties>
</file>