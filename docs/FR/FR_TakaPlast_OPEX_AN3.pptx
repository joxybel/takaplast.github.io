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OPEX RÉEL AN3 — $3 964 000/AN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</a:rPr>
              <a:t>Budget v1.5 validé — Mix SNEL/diesel — Charges RH CNSS complètes — Matières premières incluses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307592"/>
            <a:ext cx="48463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RH Complètes (114 pers.)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12080" y="1234440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$2246K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7743" y="1874520"/>
            <a:ext cx="1868617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0136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Matières premières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0" y="1801368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$866K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99613" y="2441448"/>
            <a:ext cx="666747" cy="365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6829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Électricité Mix SNEL/Diesel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0" y="2368296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$309K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88753" y="3008376"/>
            <a:ext cx="377607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3522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Transport &amp; Logistique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12080" y="2935224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$175K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09587" y="3575304"/>
            <a:ext cx="256773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50215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Maintenance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12080" y="3502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$119K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99541" y="4142232"/>
            <a:ext cx="366819" cy="3657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06908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Marketing &amp; Ventes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12080" y="4069080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$170K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1790" y="4709160"/>
            <a:ext cx="144570" cy="36576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3600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Administratif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12080" y="4636008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9F9"/>
                </a:solidFill>
              </a:rPr>
              <a:t>$67K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40467" y="5276088"/>
            <a:ext cx="25893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520293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Charges foncières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12080" y="5202936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$12K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5769864"/>
            <a:ext cx="5486400" cy="0"/>
          </a:xfrm>
          <a:prstGeom prst="line">
            <a:avLst/>
          </a:prstGeom>
          <a:noFill/>
          <a:ln w="12700">
            <a:solidFill>
              <a:srgbClr val="2D5A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5769864"/>
            <a:ext cx="0" cy="73152"/>
          </a:xfrm>
          <a:prstGeom prst="line">
            <a:avLst/>
          </a:prstGeom>
          <a:noFill/>
          <a:ln w="12700">
            <a:solidFill>
              <a:srgbClr val="2D5A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58155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087482" y="5769864"/>
            <a:ext cx="0" cy="73152"/>
          </a:xfrm>
          <a:prstGeom prst="line">
            <a:avLst/>
          </a:prstGeom>
          <a:noFill/>
          <a:ln w="12700">
            <a:solidFill>
              <a:srgbClr val="2D5A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882" y="58155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500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008604" y="5769864"/>
            <a:ext cx="0" cy="73152"/>
          </a:xfrm>
          <a:prstGeom prst="line">
            <a:avLst/>
          </a:prstGeom>
          <a:noFill/>
          <a:ln w="12700">
            <a:solidFill>
              <a:srgbClr val="2D5A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80004" y="58155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1000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929726" y="5769864"/>
            <a:ext cx="0" cy="73152"/>
          </a:xfrm>
          <a:prstGeom prst="line">
            <a:avLst/>
          </a:prstGeom>
          <a:noFill/>
          <a:ln w="12700">
            <a:solidFill>
              <a:srgbClr val="2D5A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01126" y="58155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1500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50848" y="5769864"/>
            <a:ext cx="0" cy="73152"/>
          </a:xfrm>
          <a:prstGeom prst="line">
            <a:avLst/>
          </a:prstGeom>
          <a:noFill/>
          <a:ln w="12700">
            <a:solidFill>
              <a:srgbClr val="2D5A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2248" y="58155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2000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897880" y="1143000"/>
            <a:ext cx="5989320" cy="557784"/>
          </a:xfrm>
          <a:prstGeom prst="rect">
            <a:avLst/>
          </a:prstGeom>
          <a:solidFill>
            <a:srgbClr val="1A3C28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97880" y="1143000"/>
            <a:ext cx="64008" cy="5577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25896" y="117957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RH Complètes (114 pers.)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25896" y="140817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</a:rPr>
              <a:t>Exécutifs $958K + Middle mgmt $302K + Ops $535K + Indep. collecteurs $189K + IT/Mktg/Sales $262K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10195560" y="1143000"/>
            <a:ext cx="1645920" cy="5577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2C55E"/>
                </a:solidFill>
              </a:rPr>
              <a:t>$2246K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5897880" y="1737360"/>
            <a:ext cx="5989320" cy="557784"/>
          </a:xfrm>
          <a:prstGeom prst="rect">
            <a:avLst/>
          </a:prstGeom>
          <a:solidFill>
            <a:srgbClr val="1A3C28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897880" y="1737360"/>
            <a:ext cx="64008" cy="5577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25896" y="177393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Matières premières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25896" y="200253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</a:rPr>
              <a:t>Plastiques $531K + Ciment BTP $110K + Eau $142K + Bitume $36K + Consommables $48K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10195560" y="1737360"/>
            <a:ext cx="1645920" cy="5577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B82F6"/>
                </a:solidFill>
              </a:rPr>
              <a:t>$866K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5897880" y="2331720"/>
            <a:ext cx="5989320" cy="557784"/>
          </a:xfrm>
          <a:prstGeom prst="rect">
            <a:avLst/>
          </a:prstGeom>
          <a:solidFill>
            <a:srgbClr val="1A3C28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897880" y="2331720"/>
            <a:ext cx="64008" cy="5577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25896" y="236829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Électricité Mix SNEL/Diesel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025896" y="259689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</a:rPr>
              <a:t>70% SNEL @$0.18/kWh + 30% diesel @$0.35/kWh — 115 000 kWh/mois — taux mixte $0.231/kWh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10195560" y="2331720"/>
            <a:ext cx="1645920" cy="5577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8BDF8"/>
                </a:solidFill>
              </a:rPr>
              <a:t>$309K</a:t>
            </a:r>
            <a:endParaRPr lang="en-US" sz="2100" dirty="0"/>
          </a:p>
        </p:txBody>
      </p:sp>
      <p:sp>
        <p:nvSpPr>
          <p:cNvPr id="55" name="Shape 53"/>
          <p:cNvSpPr/>
          <p:nvPr/>
        </p:nvSpPr>
        <p:spPr>
          <a:xfrm>
            <a:off x="5897880" y="2926080"/>
            <a:ext cx="5989320" cy="557784"/>
          </a:xfrm>
          <a:prstGeom prst="rect">
            <a:avLst/>
          </a:prstGeom>
          <a:solidFill>
            <a:srgbClr val="1A3C28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897880" y="2926080"/>
            <a:ext cx="64008" cy="5577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25896" y="296265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Transport &amp; Logistique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025896" y="319125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</a:rPr>
              <a:t>Carburant 5 camions $16K + 7 SUVs $25K + Entretien $54K + Haulage $60K + Assurances $14K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10195560" y="2926080"/>
            <a:ext cx="1645920" cy="5577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97316"/>
                </a:solidFill>
              </a:rPr>
              <a:t>$175K</a:t>
            </a:r>
            <a:endParaRPr lang="en-US" sz="2100" dirty="0"/>
          </a:p>
        </p:txBody>
      </p:sp>
      <p:sp>
        <p:nvSpPr>
          <p:cNvPr id="60" name="Shape 58"/>
          <p:cNvSpPr/>
          <p:nvPr/>
        </p:nvSpPr>
        <p:spPr>
          <a:xfrm>
            <a:off x="5897880" y="3520440"/>
            <a:ext cx="5989320" cy="557784"/>
          </a:xfrm>
          <a:prstGeom prst="rect">
            <a:avLst/>
          </a:prstGeom>
          <a:solidFill>
            <a:srgbClr val="1A3C28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897880" y="3520440"/>
            <a:ext cx="64008" cy="5577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25896" y="355701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025896" y="378561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</a:rPr>
              <a:t>Préventive machines $48K + Corrective $27K + Pièces $20K + Générateurs $12K + Bâtiments $12K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10195560" y="3520440"/>
            <a:ext cx="1645920" cy="5577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59E0B"/>
                </a:solidFill>
              </a:rPr>
              <a:t>$119K</a:t>
            </a:r>
            <a:endParaRPr lang="en-US" sz="2100" dirty="0"/>
          </a:p>
        </p:txBody>
      </p:sp>
      <p:sp>
        <p:nvSpPr>
          <p:cNvPr id="65" name="Shape 63"/>
          <p:cNvSpPr/>
          <p:nvPr/>
        </p:nvSpPr>
        <p:spPr>
          <a:xfrm>
            <a:off x="5897880" y="4114800"/>
            <a:ext cx="5989320" cy="557784"/>
          </a:xfrm>
          <a:prstGeom prst="rect">
            <a:avLst/>
          </a:prstGeom>
          <a:solidFill>
            <a:srgbClr val="1A3C28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897880" y="4114800"/>
            <a:ext cx="64008" cy="5577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25896" y="415137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Marketing &amp; Ventes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025896" y="437997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</a:rPr>
              <a:t>Digital $24K + Événements $24K + Pénétration marché $36K + Commissions ventes 2% rev. $80K + Démos $6K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10195560" y="4114800"/>
            <a:ext cx="1645920" cy="5577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A78BFA"/>
                </a:solidFill>
              </a:rPr>
              <a:t>$170K</a:t>
            </a:r>
            <a:endParaRPr lang="en-US" sz="2100" dirty="0"/>
          </a:p>
        </p:txBody>
      </p:sp>
      <p:sp>
        <p:nvSpPr>
          <p:cNvPr id="70" name="Shape 68"/>
          <p:cNvSpPr/>
          <p:nvPr/>
        </p:nvSpPr>
        <p:spPr>
          <a:xfrm>
            <a:off x="5897880" y="4709160"/>
            <a:ext cx="5989320" cy="557784"/>
          </a:xfrm>
          <a:prstGeom prst="rect">
            <a:avLst/>
          </a:prstGeom>
          <a:solidFill>
            <a:srgbClr val="1A3C28"/>
          </a:solidFill>
          <a:ln w="15240">
            <a:solidFill>
              <a:srgbClr val="E879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5897880" y="4709160"/>
            <a:ext cx="64008" cy="557784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25896" y="474573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Administratif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025896" y="497433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</a:rPr>
              <a:t>Audit externe $18K + Légal $12K + Tests OCC/SGS $12K + Télécom $10K + Logiciels $6K + Divers $9K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10195560" y="4709160"/>
            <a:ext cx="1645920" cy="5577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E879F9"/>
                </a:solidFill>
              </a:rPr>
              <a:t>$67K</a:t>
            </a:r>
            <a:endParaRPr lang="en-US" sz="2100" dirty="0"/>
          </a:p>
        </p:txBody>
      </p:sp>
      <p:sp>
        <p:nvSpPr>
          <p:cNvPr id="75" name="Shape 73"/>
          <p:cNvSpPr/>
          <p:nvPr/>
        </p:nvSpPr>
        <p:spPr>
          <a:xfrm>
            <a:off x="5897880" y="5303520"/>
            <a:ext cx="5989320" cy="557784"/>
          </a:xfrm>
          <a:prstGeom prst="rect">
            <a:avLst/>
          </a:prstGeom>
          <a:solidFill>
            <a:srgbClr val="1A3C28"/>
          </a:solidFill>
          <a:ln w="1524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5897880" y="5303520"/>
            <a:ext cx="64008" cy="5577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25896" y="534009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Charges foncières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025896" y="556869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</a:rPr>
              <a:t>Terrain Kinkole acquis (en CAPEX) — Taxes foncières $6K + Entretien terrain $6K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10195560" y="5303520"/>
            <a:ext cx="1645920" cy="5577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94A3B8"/>
                </a:solidFill>
              </a:rPr>
              <a:t>$12K</a:t>
            </a:r>
            <a:endParaRPr lang="en-US" sz="2100" dirty="0"/>
          </a:p>
        </p:txBody>
      </p:sp>
      <p:sp>
        <p:nvSpPr>
          <p:cNvPr id="80" name="Shape 7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82880" y="6492240"/>
            <a:ext cx="1179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818"/>
                </a:solidFill>
              </a:rPr>
              <a:t>OPEX AN3 TOTAL : $3 964 000 USD  |  AN4 -$74K solaire 150 kWc (ROI 1.2 an)  |  OPEX CIBLE AN4 : $3 890 000  |  Source : TakaPlast_Budget_v1.5.xlsx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320040" y="63550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TakaPlast — Confidentiel — Mars 2026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8686800" y="63550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www.takaplast.com/rdc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2026-03-14T13:35:18Z</dcterms:created>
  <dcterms:modified xsi:type="dcterms:W3CDTF">2026-03-14T13:35:18Z</dcterms:modified>
</cp:coreProperties>
</file>