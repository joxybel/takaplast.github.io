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bubble3D val="0"/>
            <c:spPr>
              <a:solidFill>
                <a:srgbClr val="3B82F6"/>
              </a:solidFill>
              <a:effectLst/>
            </c:spPr>
          </c:dPt>
          <c:dPt>
            <c:idx val="4"/>
            <c:bubble3D val="0"/>
            <c:spPr>
              <a:solidFill>
                <a:srgbClr val="6B7280"/>
              </a:solidFill>
              <a:effectLst/>
            </c:spPr>
          </c:dPt>
          <c:dPt>
            <c:idx val="5"/>
            <c:bubble3D val="0"/>
            <c:spPr>
              <a:solidFill>
                <a:srgbClr val="38BDF8"/>
              </a:solidFill>
              <a:effectLst/>
            </c:spPr>
          </c:dPt>
          <c:dPt>
            <c:idx val="6"/>
            <c:bubble3D val="0"/>
            <c:spPr>
              <a:solidFill>
                <a:srgbClr val="A78BFA"/>
              </a:solidFill>
              <a:effectLst/>
            </c:spPr>
          </c:dPt>
          <c:dPt>
            <c:idx val="7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Working Capital 24 mois (27.4%)</c:v>
                </c:pt>
                <c:pt idx="1">
                  <c:v>Équipements 3 flux (25.1%)</c:v>
                </c:pt>
                <c:pt idx="2">
                  <c:v>Véhicules (21.2%)</c:v>
                </c:pt>
                <c:pt idx="3">
                  <c:v>Construction &amp; Foncier (9.3%)</c:v>
                </c:pt>
                <c:pt idx="4">
                  <c:v>Contingence + Buffer FX (7.8%)</c:v>
                </c:pt>
                <c:pt idx="5">
                  <c:v>Infrastructure &amp; Énergie (4.7%)</c:v>
                </c:pt>
                <c:pt idx="6">
                  <c:v>IT &amp; Légal (2.4%)</c:v>
                </c:pt>
                <c:pt idx="7">
                  <c:v>AMO &amp; Formation (2%)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2312597</c:v>
                </c:pt>
                <c:pt idx="1">
                  <c:v>2119600</c:v>
                </c:pt>
                <c:pt idx="2">
                  <c:v>1785000</c:v>
                </c:pt>
                <c:pt idx="3">
                  <c:v>788000</c:v>
                </c:pt>
                <c:pt idx="4">
                  <c:v>656290</c:v>
                </c:pt>
                <c:pt idx="5">
                  <c:v>399000</c:v>
                </c:pt>
                <c:pt idx="6">
                  <c:v>206000</c:v>
                </c:pt>
                <c:pt idx="7">
                  <c:v>171480</c:v>
                </c:pt>
              </c:numCache>
            </c:numRef>
          </c:val>
        </c:ser>
        <c:firstSliceAng val="0"/>
      </c:pieChart>
      <c:spPr>
        <a:solidFill>
          <a:srgbClr val="0D28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281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09728"/>
            <a:ext cx="11704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UTILISATION DES FONDS — $8 437 966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6032" y="731520"/>
            <a:ext cx="1170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Déblocage par tranches jalonnées — Gestion fiduciaire — Vérificateur tiers indépant — Source : TakaPlast_Budget_v1.5.xlsx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1005840"/>
          <a:ext cx="55778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987552"/>
            <a:ext cx="5989320" cy="672084"/>
          </a:xfrm>
          <a:prstGeom prst="rect">
            <a:avLst/>
          </a:prstGeom>
          <a:solidFill>
            <a:srgbClr val="1A3C28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987552"/>
            <a:ext cx="59436" cy="6720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08192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Équipements 3 flux — FOB+livraison KIN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08192" y="12710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Flux 1 Granulés $989K | Flux 2 LPG $423K | Flux 3 BTP $307K | Partagés $400K — Coeff. ×1.44 (douane 10%+TVA 16%+logist.)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104120" y="987552"/>
            <a:ext cx="1828800" cy="6720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2C55E"/>
                </a:solidFill>
              </a:rPr>
              <a:t>$2 119 600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989320" y="1673352"/>
            <a:ext cx="5989320" cy="672084"/>
          </a:xfrm>
          <a:prstGeom prst="rect">
            <a:avLst/>
          </a:prstGeom>
          <a:solidFill>
            <a:srgbClr val="1A3C28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89320" y="1673352"/>
            <a:ext cx="59436" cy="6720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8192" y="17099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Véhicules (5 camions + 7 SUVs + 2 utilitaires)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08192" y="19568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5 camions compacteurs 10t @$300K = $1.5M | 7 SUVs C-suite $235K | 2 utilitaires flatbed $50K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0104120" y="1673352"/>
            <a:ext cx="1828800" cy="6720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$1 785 000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989320" y="2359152"/>
            <a:ext cx="5989320" cy="672084"/>
          </a:xfrm>
          <a:prstGeom prst="rect">
            <a:avLst/>
          </a:prstGeom>
          <a:solidFill>
            <a:srgbClr val="1A3C2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89320" y="2359152"/>
            <a:ext cx="59436" cy="6720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08192" y="23957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Working Capital 24 mois (RH+OPEX pré-revenus)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108192" y="26426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Buffer M1–M7 avant revenus M8 + 17 mois exploitation — Peak -$92 504 (M2) — Facteur sécurité 25×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104120" y="2359152"/>
            <a:ext cx="1828800" cy="6720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F4444"/>
                </a:solidFill>
              </a:rPr>
              <a:t>$2 312 597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989320" y="3044952"/>
            <a:ext cx="5989320" cy="672084"/>
          </a:xfrm>
          <a:prstGeom prst="rect">
            <a:avLst/>
          </a:prstGeom>
          <a:solidFill>
            <a:srgbClr val="1A3C2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89320" y="3044952"/>
            <a:ext cx="59436" cy="6720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08192" y="30815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Construction &amp; Foncier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108192" y="33284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Hall industriel 3 000m² $350K + Bureaux+Lab $95K + Terrain Kinkole 8 000m² $218K + Clôture+routes+réseaux $125K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0104120" y="3044952"/>
            <a:ext cx="1828800" cy="6720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B82F6"/>
                </a:solidFill>
              </a:rPr>
              <a:t>$788 000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5989320" y="3730752"/>
            <a:ext cx="5989320" cy="672084"/>
          </a:xfrm>
          <a:prstGeom prst="rect">
            <a:avLst/>
          </a:prstGeom>
          <a:solidFill>
            <a:srgbClr val="1A3C28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989320" y="3730752"/>
            <a:ext cx="59436" cy="67208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08192" y="37673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Contingence 10% + Buffer FX/douanes 2%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108192" y="40142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Contingence CAPEX 10% = $546 908 — Buffer douanes/FX/retards 2% = $109 382 — Non inclus en OPEX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104120" y="3730752"/>
            <a:ext cx="1828800" cy="6720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B7280"/>
                </a:solidFill>
              </a:rPr>
              <a:t>$656 290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989320" y="4416552"/>
            <a:ext cx="5989320" cy="672084"/>
          </a:xfrm>
          <a:prstGeom prst="rect">
            <a:avLst/>
          </a:prstGeom>
          <a:solidFill>
            <a:srgbClr val="1A3C2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989320" y="4416552"/>
            <a:ext cx="59436" cy="6720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08192" y="4453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Infrastructure &amp; Énergie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108192" y="47000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2× groupes 200kVA $130K + SNEL/transfo $25K + Solaire 150kWp An2 $85K + Eau+pompes $73K + HVAC+Sécurité $51K + Maintenance $35K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10104120" y="4416552"/>
            <a:ext cx="1828800" cy="6720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8BDF8"/>
                </a:solidFill>
              </a:rPr>
              <a:t>$399 000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5989320" y="5102352"/>
            <a:ext cx="5989320" cy="672084"/>
          </a:xfrm>
          <a:prstGeom prst="rect">
            <a:avLst/>
          </a:prstGeom>
          <a:solidFill>
            <a:srgbClr val="1A3C28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989320" y="5102352"/>
            <a:ext cx="59436" cy="6720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08192" y="51389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IT &amp; Légal / Certifications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108192" y="53858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App traçabilité+ERP Odoo $95K + IT infra $20K | SARL+Permis+EIA+GPL+ISO 9001+LNBTP+Assurances $91K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10104120" y="5102352"/>
            <a:ext cx="1828800" cy="6720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78BFA"/>
                </a:solidFill>
              </a:rPr>
              <a:t>$206 000</a:t>
            </a:r>
            <a:endParaRPr lang="en-US" sz="1700" dirty="0"/>
          </a:p>
        </p:txBody>
      </p:sp>
      <p:sp>
        <p:nvSpPr>
          <p:cNvPr id="41" name="Shape 38"/>
          <p:cNvSpPr/>
          <p:nvPr/>
        </p:nvSpPr>
        <p:spPr>
          <a:xfrm>
            <a:off x="5989320" y="5788152"/>
            <a:ext cx="5989320" cy="672084"/>
          </a:xfrm>
          <a:prstGeom prst="rect">
            <a:avLst/>
          </a:prstGeom>
          <a:solidFill>
            <a:srgbClr val="1A3C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5989320" y="5788152"/>
            <a:ext cx="59436" cy="6720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08192" y="58247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AMO &amp; Formation technique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108192" y="60716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AMO intégration industrielle $134K (audit Chine + supervision montage Kinkole) | Formation opérateurs Chine+INPP $37K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10104120" y="5788152"/>
            <a:ext cx="1828800" cy="6720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$171 480</a:t>
            </a:r>
            <a:endParaRPr lang="en-US" sz="1700" dirty="0"/>
          </a:p>
        </p:txBody>
      </p:sp>
      <p:sp>
        <p:nvSpPr>
          <p:cNvPr id="46" name="Shape 43"/>
          <p:cNvSpPr/>
          <p:nvPr/>
        </p:nvSpPr>
        <p:spPr>
          <a:xfrm>
            <a:off x="0" y="6483096"/>
            <a:ext cx="12161520" cy="3749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37160" y="6483096"/>
            <a:ext cx="11887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818"/>
                </a:solidFill>
              </a:rPr>
              <a:t>TOTAL : $8 437 966  |  T1 Closing → T2 M8 (3-flux Day One, 15% cap.) → T3 M12 (EBITDA positif confirmé)  |  Peak négatif trésorerie : -$92 504 (M2) — Facteur sécurité WC : 25×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6032" y="63367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TakaPlast — Confidentiel — Mars 2026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8686800" y="633679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www.takaplast.com/rdc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2026-03-14T15:12:37Z</dcterms:created>
  <dcterms:modified xsi:type="dcterms:W3CDTF">2026-03-14T15:12:37Z</dcterms:modified>
</cp:coreProperties>
</file>